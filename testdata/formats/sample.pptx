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example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 document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Sample document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is the source-of-truth for the binary format fixtures under </a:t>
            </a:r>
            <a:r>
              <a:rPr>
                <a:latin typeface="Courier"/>
              </a:rPr>
              <a:t>testdata/formats/</a:t>
            </a:r>
            <a:r>
              <a:rPr/>
              <a:t>. Regenerate the siblings with:</a:t>
            </a:r>
          </a:p>
          <a:p>
            <a:pPr lvl="0" indent="0">
              <a:buNone/>
            </a:pPr>
            <a:r>
              <a:rPr>
                <a:latin typeface="Courier"/>
              </a:rPr>
              <a:t>pandoc fixture-source.md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sample.docx</a:t>
            </a:r>
            <a:br/>
            <a:r>
              <a:rPr>
                <a:latin typeface="Courier"/>
              </a:rPr>
              <a:t>pandoc fixture-source.md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sample.odt</a:t>
            </a:r>
            <a:br/>
            <a:r>
              <a:rPr>
                <a:latin typeface="Courier"/>
              </a:rPr>
              <a:t>pandoc fixture-source.md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sample.epub</a:t>
            </a:r>
            <a:br/>
            <a:r>
              <a:rPr>
                <a:latin typeface="Courier"/>
              </a:rPr>
              <a:t>pandoc fixture-source.md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sample.fb2</a:t>
            </a:r>
            <a:br/>
            <a:r>
              <a:rPr>
                <a:latin typeface="Courier"/>
              </a:rPr>
              <a:t>pandoc fixture-source.md </a:t>
            </a:r>
            <a:r>
              <a:rPr>
                <a:solidFill>
                  <a:srgbClr val="7D9029"/>
                </a:solidFill>
                <a:latin typeface="Courier"/>
              </a:rPr>
              <a:t>-o</a:t>
            </a:r>
            <a:r>
              <a:rPr>
                <a:latin typeface="Courier"/>
              </a:rPr>
              <a:t> sample.pptx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sample.xlsx</a:t>
            </a:r>
            <a:r>
              <a:rPr/>
              <a:t> is generated separately from </a:t>
            </a:r>
            <a:r>
              <a:rPr>
                <a:latin typeface="Courier"/>
              </a:rPr>
              <a:t>sample.xlsx-source.csv</a:t>
            </a:r>
            <a:r>
              <a:rPr/>
              <a:t> via </a:t>
            </a:r>
            <a:r>
              <a:rPr>
                <a:latin typeface="Courier"/>
              </a:rPr>
              <a:t>libreoffice --headless --convert-to xlsx</a:t>
            </a:r>
            <a:r>
              <a:rPr/>
              <a:t>, since pandoc 3.x cannot write xlsx (only read it).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Features</a:t>
            </a:r>
          </a:p>
          <a:p>
            <a:pPr lvl="0"/>
            <a:r>
              <a:rPr/>
              <a:t>Headings, paragraphs, and </a:t>
            </a:r>
            <a:r>
              <a:rPr b="1"/>
              <a:t>bold</a:t>
            </a:r>
            <a:r>
              <a:rPr/>
              <a:t> / </a:t>
            </a:r>
            <a:r>
              <a:rPr i="1"/>
              <a:t>italic</a:t>
            </a:r>
            <a:r>
              <a:rPr/>
              <a:t> prose</a:t>
            </a:r>
          </a:p>
          <a:p>
            <a:pPr lvl="0"/>
            <a:r>
              <a:rPr/>
              <a:t>Lists with </a:t>
            </a:r>
            <a:r>
              <a:rPr>
                <a:latin typeface="Courier"/>
              </a:rPr>
              <a:t>inline code</a:t>
            </a:r>
            <a:r>
              <a:rPr/>
              <a:t> and an </a:t>
            </a:r>
            <a:r>
              <a:rPr>
                <a:hlinkClick r:id="rId2"/>
              </a:rPr>
              <a:t>external link</a:t>
            </a:r>
          </a:p>
          <a:p>
            <a:pPr lvl="0"/>
            <a:r>
              <a:rPr/>
              <a:t>Fenced code blocks</a:t>
            </a:r>
          </a:p>
          <a:p>
            <a:pPr lvl="0"/>
            <a:r>
              <a:rPr/>
              <a:t>Tables and blockquotes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sample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greet(name):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B6688"/>
                </a:solidFill>
                <a:latin typeface="Courier"/>
              </a:rPr>
              <a:t>f"Hello,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!"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(greet(</a:t>
            </a:r>
            <a:r>
              <a:rPr>
                <a:solidFill>
                  <a:srgbClr val="4070A0"/>
                </a:solidFill>
                <a:latin typeface="Courier"/>
              </a:rPr>
              <a:t>"pandoc"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Office Open XML, zip-packed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OpenDocument Text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epub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EPUB e-book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fb2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FictionBook XML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pptx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PowerPoint, input only in 3.5+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xlsx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Spreadsheet, input only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Final line: a blockquote so the rendered output exercises every block-level construct exposed by the renderer.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document</dc:title>
  <dc:creator/>
  <cp:keywords/>
  <dcterms:created xsi:type="dcterms:W3CDTF">2026-05-13T21:40:30Z</dcterms:created>
  <dcterms:modified xsi:type="dcterms:W3CDTF">2026-05-13T21:40:30Z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